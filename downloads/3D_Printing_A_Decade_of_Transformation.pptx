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AM industry revenue ($B)</c:v>
                </c:pt>
              </c:strCache>
            </c:strRef>
          </c:tx>
          <c:spPr>
            <a:solidFill>
              <a:srgbClr val="FF7A30"/>
            </a:solidFill>
            <a:effectLst/>
          </c:spPr>
          <c:invertIfNegative val="0"/>
          <c:dLbls>
            <c:numFmt formatCode="&quot;$&quot;#,##0.0&quot;B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2016</c:v>
                  </c:pt>
                  <c:pt idx="1">
                    <c:v>2023</c:v>
                  </c:pt>
                  <c:pt idx="2">
                    <c:v>2025</c:v>
                  </c:pt>
                  <c:pt idx="3">
                    <c:v>2026 (proj.)</c:v>
                  </c:pt>
                  <c:pt idx="4">
                    <c:v>2034 (proj.)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</c:v>
                </c:pt>
                <c:pt idx="1">
                  <c:v>20</c:v>
                </c:pt>
                <c:pt idx="2">
                  <c:v>23.4</c:v>
                </c:pt>
                <c:pt idx="3">
                  <c:v>28.6</c:v>
                </c:pt>
                <c:pt idx="4">
                  <c:v>136.8</c:v>
                </c:pt>
              </c:numCache>
            </c:numRef>
          </c:val>
        </c:ser>
        <c:dLbls>
          <c:numFmt formatCode="&quot;$&quot;#,##0.0&quot;B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CE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2.png"/><Relationship Id="rId4" Type="http://schemas.openxmlformats.org/officeDocument/2006/relationships/image" Target="../media/image-19-2.png"/><Relationship Id="rId5" Type="http://schemas.openxmlformats.org/officeDocument/2006/relationships/image" Target="../media/image-1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FF7A30">
              <a:alpha val="2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914400"/>
            <a:ext cx="777240" cy="77724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pr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4" y="1023214"/>
            <a:ext cx="559613" cy="55961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IN ADDITIVE MANUFACTURING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37744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Printing: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Production</a:t>
            </a:r>
            <a:endParaRPr lang="en-US" sz="4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7091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additive manufacturing evolved from a niche prototyping tool into an industrial and consumer technology, 2016–2026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Ofir  •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051685"/>
            <a:ext cx="457200" cy="45720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hi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115693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70432" y="1828800"/>
            <a:ext cx="4765396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Starting Point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170432" y="2262226"/>
            <a:ext cx="4765396" cy="46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technology and market stood in 2016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3228975"/>
            <a:ext cx="457200" cy="45720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0" name="Image 2" descr="/home/claude/3dprint_deck/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292983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70432" y="3006090"/>
            <a:ext cx="4765396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Growth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70432" y="3439516"/>
            <a:ext cx="4765396" cy="46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expansion, in numbers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4406265"/>
            <a:ext cx="457200" cy="45720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4" name="Image 3" descr="/home/claude/3dprint_deck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4470273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70432" y="4183380"/>
            <a:ext cx="4765396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Technologies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170432" y="4616806"/>
            <a:ext cx="4765396" cy="46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FDM, resin, powder-bed and metal AM matured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48640" y="5583555"/>
            <a:ext cx="457200" cy="45720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8" name="Image 4" descr="/home/claude/3dprint_deck/icons/at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5647563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70432" y="5360670"/>
            <a:ext cx="4765396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Science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170432" y="5794096"/>
            <a:ext cx="4765396" cy="46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plastics to aerospace-grade composites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255868" y="2051685"/>
            <a:ext cx="457200" cy="45720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22" name="Image 5" descr="/home/claude/3dprint_deck/icons/deskt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876" y="2115693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877660" y="1828800"/>
            <a:ext cx="4765396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Consumer Shift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6877660" y="2262226"/>
            <a:ext cx="4765396" cy="46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expiry, price collapse, and the maker boom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255868" y="3228975"/>
            <a:ext cx="457200" cy="45720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26" name="Image 6" descr="/home/claude/3dprint_deck/icons/microchi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876" y="3292983"/>
            <a:ext cx="329184" cy="32918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77660" y="3006090"/>
            <a:ext cx="4765396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AI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6877660" y="3439516"/>
            <a:ext cx="4765396" cy="46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from hardware-led to software-defined manufacturing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6255868" y="4406265"/>
            <a:ext cx="457200" cy="45720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30" name="Image 7" descr="/home/claude/3dprint_deck/icons/indu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9876" y="4470273"/>
            <a:ext cx="329184" cy="32918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877660" y="4183380"/>
            <a:ext cx="4765396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6877660" y="4616806"/>
            <a:ext cx="4765396" cy="46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Aerospace, healthcare, automotive and construction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6255868" y="5583555"/>
            <a:ext cx="457200" cy="45720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34" name="Image 8" descr="/home/claude/3dprint_deck/icons/rock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9876" y="5647563"/>
            <a:ext cx="329184" cy="329184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877660" y="5360670"/>
            <a:ext cx="4765396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36" name="Text 25"/>
          <p:cNvSpPr txBox="1"/>
          <p:nvPr/>
        </p:nvSpPr>
        <p:spPr>
          <a:xfrm>
            <a:off x="6877660" y="5794096"/>
            <a:ext cx="4765396" cy="46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still ahead, and where the decade leads</a:t>
            </a:r>
            <a:endParaRPr lang="en-US" sz="1150" dirty="0"/>
          </a:p>
        </p:txBody>
      </p:sp>
      <p:sp>
        <p:nvSpPr>
          <p:cNvPr id="37" name="Text 2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38" name="Text 2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additive manufacturing?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manufacturing (AM) — popularly “3D printing” — builds parts layer by layer directly from a digital model, adding material only where it's needed.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inverse of subtractive methods like CNC machining, which start with a solid block and cut material away.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past decade, the technology matured across four major process families — each following its own trajectory of speed, resolution and material capability.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989320" y="1783080"/>
            <a:ext cx="5653735" cy="932688"/>
          </a:xfrm>
          <a:prstGeom prst="roundRect">
            <a:avLst>
              <a:gd name="adj" fmla="val 784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90488" y="1984248"/>
            <a:ext cx="530352" cy="530352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8" name="Image 1" descr="/home/claude/3dprint_deck/icons/c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737" y="2058497"/>
            <a:ext cx="381853" cy="38185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1874520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Extrusion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903720" y="2240280"/>
            <a:ext cx="4556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FDM / FFF — melted filament, layer by layer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989320" y="2898648"/>
            <a:ext cx="5653735" cy="932688"/>
          </a:xfrm>
          <a:prstGeom prst="roundRect">
            <a:avLst>
              <a:gd name="adj" fmla="val 784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190488" y="3099816"/>
            <a:ext cx="530352" cy="530352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3" name="Image 2" descr="/home/claude/3dprint_deck/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737" y="3174065"/>
            <a:ext cx="381853" cy="38185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990088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Vat Photopolymerization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903720" y="3355848"/>
            <a:ext cx="4556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/ DLP — light-cured liquid resin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89320" y="4014216"/>
            <a:ext cx="5653735" cy="932688"/>
          </a:xfrm>
          <a:prstGeom prst="roundRect">
            <a:avLst>
              <a:gd name="adj" fmla="val 784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90488" y="4215384"/>
            <a:ext cx="530352" cy="530352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8" name="Image 3" descr="/home/claude/3dprint_deck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737" y="4289633"/>
            <a:ext cx="381853" cy="38185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3720" y="4105656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Powder Bed Fusion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903720" y="4471416"/>
            <a:ext cx="4556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 / MJF — fused polymer or metal powder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989320" y="5129784"/>
            <a:ext cx="5653735" cy="932688"/>
          </a:xfrm>
          <a:prstGeom prst="roundRect">
            <a:avLst>
              <a:gd name="adj" fmla="val 784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190488" y="5330952"/>
            <a:ext cx="530352" cy="530352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23" name="Image 4" descr="/home/claude/3dprint_deck/icons/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4737" y="5405201"/>
            <a:ext cx="381853" cy="38185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03720" y="5221224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Directed Energy &amp; Binder Jetting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6903720" y="5586984"/>
            <a:ext cx="4556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AM for production-grade parts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27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started: 2016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ago, 3D printing was still largely a prototyping tool — promising, but far from production-ready at scale.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499284" cy="2286000"/>
          </a:xfrm>
          <a:prstGeom prst="roundRect">
            <a:avLst>
              <a:gd name="adj" fmla="val 3200"/>
            </a:avLst>
          </a:prstGeom>
          <a:solidFill>
            <a:srgbClr val="1B2330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880360"/>
            <a:ext cx="21335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~$6B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49040"/>
            <a:ext cx="21335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AM industry revenue (Wohlers)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3684" y="2606040"/>
            <a:ext cx="2499284" cy="2286000"/>
          </a:xfrm>
          <a:prstGeom prst="roundRect">
            <a:avLst>
              <a:gd name="adj" fmla="val 3200"/>
            </a:avLst>
          </a:prstGeom>
          <a:solidFill>
            <a:srgbClr val="1B2330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96564" y="2880360"/>
            <a:ext cx="21335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596564" y="3749040"/>
            <a:ext cx="21335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activity centered on prototyping, not production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78728" y="2606040"/>
            <a:ext cx="2499284" cy="2286000"/>
          </a:xfrm>
          <a:prstGeom prst="roundRect">
            <a:avLst>
              <a:gd name="adj" fmla="val 3200"/>
            </a:avLst>
          </a:prstGeom>
          <a:solidFill>
            <a:srgbClr val="1B2330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61608" y="2880360"/>
            <a:ext cx="21335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461608" y="3749040"/>
            <a:ext cx="21335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desktop process: FDM, just past patent expiry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3771" y="2606040"/>
            <a:ext cx="2499284" cy="2286000"/>
          </a:xfrm>
          <a:prstGeom prst="roundRect">
            <a:avLst>
              <a:gd name="adj" fmla="val 3200"/>
            </a:avLst>
          </a:prstGeom>
          <a:solidFill>
            <a:srgbClr val="1B2330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26651" y="2880360"/>
            <a:ext cx="21335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326651" y="3749040"/>
            <a:ext cx="21335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AM (DMLS/SLM) still niche, aerospace-only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212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figures are approximate industry-revenue estimates (Wohlers Associates).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decade of compounding growth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7406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0" y="1737360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21.6%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8229600" y="228600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CAGR, 2026–2034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3246120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~4.7x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379476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growth, 2016 → 2026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229600" y="4754880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530352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the industry first topped $20B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Wohlers Associates / Wohlers Report; Fortune Business Insights, 3D Printing Market forecast.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 OF A DECADE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Milestones, 2016–2026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3749040"/>
            <a:ext cx="10545775" cy="0"/>
          </a:xfrm>
          <a:prstGeom prst="line">
            <a:avLst/>
          </a:prstGeom>
          <a:noFill/>
          <a:ln w="25400">
            <a:solidFill>
              <a:srgbClr val="2E40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0664" y="3666744"/>
            <a:ext cx="164592" cy="164592"/>
          </a:xfrm>
          <a:prstGeom prst="ellipse">
            <a:avLst/>
          </a:prstGeom>
          <a:solidFill>
            <a:srgbClr val="FF7A30"/>
          </a:solidFill>
          <a:ln w="25400">
            <a:solidFill>
              <a:srgbClr val="12172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7744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launches Multi Jet Fusion, bringing support-free, production-grade polymer parts to industry.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" y="3429000"/>
            <a:ext cx="0" cy="320040"/>
          </a:xfrm>
          <a:prstGeom prst="line">
            <a:avLst/>
          </a:prstGeom>
          <a:noFill/>
          <a:ln w="12700">
            <a:solidFill>
              <a:srgbClr val="2E40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98293" y="3666744"/>
            <a:ext cx="164592" cy="164592"/>
          </a:xfrm>
          <a:prstGeom prst="ellipse">
            <a:avLst/>
          </a:prstGeom>
          <a:solidFill>
            <a:srgbClr val="FF7A30"/>
          </a:solidFill>
          <a:ln w="25400">
            <a:solidFill>
              <a:srgbClr val="12172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506169" y="4206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506169" y="45262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Metal and Carbon push binder-jet metal and DLS resin printing toward true production speed.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580589" y="3749040"/>
            <a:ext cx="0" cy="320040"/>
          </a:xfrm>
          <a:prstGeom prst="line">
            <a:avLst/>
          </a:prstGeom>
          <a:noFill/>
          <a:ln w="12700">
            <a:solidFill>
              <a:srgbClr val="2E40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55922" y="3666744"/>
            <a:ext cx="164592" cy="164592"/>
          </a:xfrm>
          <a:prstGeom prst="ellipse">
            <a:avLst/>
          </a:prstGeom>
          <a:solidFill>
            <a:srgbClr val="FF7A30"/>
          </a:solidFill>
          <a:ln w="25400">
            <a:solidFill>
              <a:srgbClr val="12172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63798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2020–21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263798" y="237744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supply-chain shocks push manufacturers toward on-demand, distributed production.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38218" y="3429000"/>
            <a:ext cx="0" cy="320040"/>
          </a:xfrm>
          <a:prstGeom prst="line">
            <a:avLst/>
          </a:prstGeom>
          <a:noFill/>
          <a:ln w="12700">
            <a:solidFill>
              <a:srgbClr val="2E405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13552" y="3666744"/>
            <a:ext cx="164592" cy="164592"/>
          </a:xfrm>
          <a:prstGeom prst="ellipse">
            <a:avLst/>
          </a:prstGeom>
          <a:solidFill>
            <a:srgbClr val="FF7A30"/>
          </a:solidFill>
          <a:ln w="25400">
            <a:solidFill>
              <a:srgbClr val="12172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1428" y="4206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021428" y="45262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Bambu Lab's entry resets consumer expectations — rivals must raise quality and cut prices at once.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95848" y="3749040"/>
            <a:ext cx="0" cy="320040"/>
          </a:xfrm>
          <a:prstGeom prst="line">
            <a:avLst/>
          </a:prstGeom>
          <a:noFill/>
          <a:ln w="12700">
            <a:solidFill>
              <a:srgbClr val="2E405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1181" y="3666744"/>
            <a:ext cx="164592" cy="164592"/>
          </a:xfrm>
          <a:prstGeom prst="ellipse">
            <a:avLst/>
          </a:prstGeom>
          <a:solidFill>
            <a:srgbClr val="FF7A30"/>
          </a:solidFill>
          <a:ln w="25400">
            <a:solidFill>
              <a:srgbClr val="12172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79057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779057" y="237744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AM industry tops $20B in annual revenue for the first time (Wohlers Report).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853477" y="3429000"/>
            <a:ext cx="0" cy="320040"/>
          </a:xfrm>
          <a:prstGeom prst="line">
            <a:avLst/>
          </a:prstGeom>
          <a:noFill/>
          <a:ln w="12700">
            <a:solidFill>
              <a:srgbClr val="2E405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528810" y="3666744"/>
            <a:ext cx="164592" cy="164592"/>
          </a:xfrm>
          <a:prstGeom prst="ellipse">
            <a:avLst/>
          </a:prstGeom>
          <a:solidFill>
            <a:srgbClr val="FF7A30"/>
          </a:solidFill>
          <a:ln w="25400">
            <a:solidFill>
              <a:srgbClr val="12172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36686" y="4206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2024–25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536686" y="45262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and continuous-fiber composite printing mature for aerospace and medical use.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611106" y="3749040"/>
            <a:ext cx="0" cy="320040"/>
          </a:xfrm>
          <a:prstGeom prst="line">
            <a:avLst/>
          </a:prstGeom>
          <a:noFill/>
          <a:ln w="12700">
            <a:solidFill>
              <a:srgbClr val="2E405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286439" y="3666744"/>
            <a:ext cx="164592" cy="164592"/>
          </a:xfrm>
          <a:prstGeom prst="ellipse">
            <a:avLst/>
          </a:prstGeom>
          <a:solidFill>
            <a:srgbClr val="FF7A30"/>
          </a:solidFill>
          <a:ln w="25400">
            <a:solidFill>
              <a:srgbClr val="12172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494215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494215" y="237744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Software-defined, voxel-level control and cold metal fusion emerge as the next frontier.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1368735" y="3429000"/>
            <a:ext cx="0" cy="320040"/>
          </a:xfrm>
          <a:prstGeom prst="line">
            <a:avLst/>
          </a:prstGeom>
          <a:noFill/>
          <a:ln w="12700">
            <a:solidFill>
              <a:srgbClr val="2E405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DEEP DIVE · 1 OF 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extrusion: from hobbyist to workhorse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728655" y="822960"/>
            <a:ext cx="914400" cy="914400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c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671" y="950976"/>
            <a:ext cx="658368" cy="6583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87452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Deposition Modeling (FDM/FFF) started the decade as slow, single-color desktop hardware inherited from the RepRap movement.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speeds climbed roughly an order of magnitude, from ~20–60 mm/s in 2016 to 300–500+ mm/s on today's consumer machines.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and multi-color tool changers, enclosed chambers, and engineering filaments (nylon, ASA, PC) pushed FDM from hobbyist prints into functional, end-use parts.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remains the highest-volume process by units shipped — roughly 85% of the ~3.5–4.5 million printers shipped in 2025 were desktop FDM.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7635240" y="1874520"/>
            <a:ext cx="4007815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818120" y="1984248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300–500 mm/s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2468880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print speed on modern consumer machines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635240" y="3291840"/>
            <a:ext cx="4007815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818120" y="3401568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~85%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3886200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2025 printer shipments that are desktop FDM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DEEP DIVE · 2 OF 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Vat photopolymerization: precision at scale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728655" y="822960"/>
            <a:ext cx="914400" cy="914400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671" y="950976"/>
            <a:ext cx="658368" cy="6583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87452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and DLP cure liquid resin with light, layer by layer, delivering resolution and surface finish FDM can't match.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Carbon's Digital Light Synthesis (DLS) — using an oxygen-permeable window for continuous curing — proved resin could be fast and production-viable, not just a prototyping niche.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adopted Carbon DLS for midsole production, one of the decade's clearest signals that resin printing had crossed into mass manufacturing.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aligners and surgical guides became a defining production use case, with resin printers now running as always-on manufacturing lines in dental labs.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7635240" y="1874520"/>
            <a:ext cx="4007815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818120" y="1984248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2468880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Carbon's continuous light-cure process for production parts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635240" y="3291840"/>
            <a:ext cx="4007815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818120" y="3401568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Dental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3886200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largest volume production use cases for resin AM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DEEP DIVE · 3 OF 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Powder bed fusion: support-free production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728655" y="822960"/>
            <a:ext cx="914400" cy="914400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671" y="950976"/>
            <a:ext cx="658368" cy="6583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87452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Laser Sintering (SLS) fuses polymer powder with a laser, producing strong, support-free parts — long an industrial mainstay, but expensive and slow to scale.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HP's 2016 entry with Multi Jet Fusion (MJF) was a turning point: fusing and detailing agents plus infrared energy fuse entire layers at once, cutting cycle times sharply versus laser-based SLS.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MJF pushed powder bed fusion from low-volume prototyping toward genuine bridge and end-use production, especially for nylon (PA11/PA12) functional parts.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 reuse rates and finishing (dyeing, vapor smoothing) improved enough to make PBF parts viable for consumer-facing products, not just internal tooling.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7635240" y="1874520"/>
            <a:ext cx="4007815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818120" y="1984248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2468880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HP launched Multi Jet Fusion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635240" y="3291840"/>
            <a:ext cx="4007815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818120" y="3401568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supports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3886200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self-support in the powder bed, simplifying design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DEEP DIVE · 4 OF 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 additive manufacturing matures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728655" y="822960"/>
            <a:ext cx="914400" cy="914400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671" y="950976"/>
            <a:ext cx="658368" cy="6583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87452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powder bed fusion (DMLS/SLM) moved from experimental aerospace brackets to certified flight and medical hardware over the decade.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Aviation's metal-printed fuel nozzle tip is the industry's signature proof point: a single component consolidating 20 brazed parts into one printed part, produced well over 100,000 times.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jetting (Desktop Metal, HP Metal Jet) emerged as a faster, lower-cost path to metal parts — trading laser-melting speed limits for print-then-sinter throughput.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mid-2020s, multi-material metal printing and “cold metal fusion” techniques began targeting titanium medical implants and next-generation alloys.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7635240" y="1874520"/>
            <a:ext cx="4007815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818120" y="1984248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100,000+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2468880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fuel nozzle tips printed, consolidating 20 parts into 1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635240" y="3291840"/>
            <a:ext cx="4007815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818120" y="3401568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Binder jet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3886200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route to metal parts than laser powder bed fusion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SCIENCE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basic plastics to engineered materials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484778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7" name="Image 1" descr="/home/claude/3dprint_deck/icons/a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9" y="2082089"/>
            <a:ext cx="362102" cy="3621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6517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Polymers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017520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and PEKK bring aerospace-grade strength and heat resistance to printed parts.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353458" y="1783080"/>
            <a:ext cx="3484778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2058" y="2011680"/>
            <a:ext cx="502920" cy="50292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2" name="Image 2" descr="/home/claude/3dprint_dec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467" y="2082089"/>
            <a:ext cx="362102" cy="3621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82058" y="26517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Continuous-Fiber Composites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4582058" y="3017520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and glass fiber embedded mid-print rival machined aluminum in strength-to-weight.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158277" y="1783080"/>
            <a:ext cx="3484778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86877" y="2011680"/>
            <a:ext cx="502920" cy="50292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7" name="Image 3" descr="/home/claude/3dprint_deck/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286" y="2082089"/>
            <a:ext cx="362102" cy="3621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86877" y="26517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 Alloys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8386877" y="3017520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Titanium, Inconel and aluminum alloys, now qualified for flight-critical hardware.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3484778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22" name="Image 4" descr="/home/claude/3dprint_deck/icons/dn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9" y="4276649"/>
            <a:ext cx="362102" cy="36210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77240" y="48463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Bio-Materials &amp; Bioinks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5212080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Cell-laden hydrogels and patient-matched biomaterials enable tissue and organ research.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353458" y="3977640"/>
            <a:ext cx="3484778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582058" y="4206240"/>
            <a:ext cx="502920" cy="50292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27" name="Image 5" descr="/home/claude/3dprint_deck/icons/flas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467" y="4276649"/>
            <a:ext cx="362102" cy="36210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82058" y="48463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&amp; Medical-Grade TPU</a:t>
            </a:r>
            <a:endParaRPr lang="en-US" sz="1350" dirty="0"/>
          </a:p>
        </p:txBody>
      </p:sp>
      <p:sp>
        <p:nvSpPr>
          <p:cNvPr id="29" name="Text 21"/>
          <p:cNvSpPr txBox="1"/>
          <p:nvPr/>
        </p:nvSpPr>
        <p:spPr>
          <a:xfrm>
            <a:off x="4582058" y="5212080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durable elastomers for orthotics, wearables and cushioning.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8158277" y="3977640"/>
            <a:ext cx="3484778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86877" y="4206240"/>
            <a:ext cx="502920" cy="50292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32" name="Image 6" descr="/home/claude/3dprint_deck/icons/cu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7286" y="4276649"/>
            <a:ext cx="362102" cy="3621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386877" y="48463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Ceramics &amp; Sustainable Feedstocks</a:t>
            </a:r>
            <a:endParaRPr lang="en-US" sz="1350" dirty="0"/>
          </a:p>
        </p:txBody>
      </p:sp>
      <p:sp>
        <p:nvSpPr>
          <p:cNvPr id="34" name="Text 25"/>
          <p:cNvSpPr txBox="1"/>
          <p:nvPr/>
        </p:nvSpPr>
        <p:spPr>
          <a:xfrm>
            <a:off x="8386877" y="5212080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High-temperature ceramics and bio-based, recycled filaments broaden the palette.</a:t>
            </a:r>
            <a:endParaRPr lang="en-US" sz="105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36" name="Text 2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SHIFT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desktop revolution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FDM and SLS patents expiring between 2009 and 2014 opened the door — the RepRap open-source movement turned that opening into a hardware ecosystem.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Bambu Lab's 2022 launch was the decade's clearest inflection point: genuine multi-color, 300–500 mm/s printing at consumer prices, forcing every competitor to raise quality and cut price simultaneously.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 prosumer and small-business economy built on desktop printing — custom goods on Etsy, Shopify and Amazon Handmade, with typical small operators running 2–5 printers.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0" y="1783080"/>
            <a:ext cx="4327855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0" y="1892808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377440"/>
            <a:ext cx="3962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price point now common for capable FDM printers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0" y="3200400"/>
            <a:ext cx="4327855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0" y="3310128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2–5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794760"/>
            <a:ext cx="3962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Printers typically run by small print-on-demand operators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0" y="4617720"/>
            <a:ext cx="4327855" cy="1188720"/>
          </a:xfrm>
          <a:prstGeom prst="roundRect">
            <a:avLst>
              <a:gd name="adj" fmla="val 6154"/>
            </a:avLst>
          </a:prstGeom>
          <a:solidFill>
            <a:srgbClr val="1B2330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4727448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$2K–8K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5212080"/>
            <a:ext cx="3962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monthly revenue for small e-commerce print shops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LAYER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Software-defined manufacturing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728655" y="822960"/>
            <a:ext cx="914400" cy="914400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671" y="950976"/>
            <a:ext cx="658368" cy="6583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929384"/>
            <a:ext cx="128016" cy="128016"/>
          </a:xfrm>
          <a:prstGeom prst="ellipse">
            <a:avLst/>
          </a:prstGeom>
          <a:solidFill>
            <a:srgbClr val="FF7A30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68680" y="1801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design &amp; simulation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709160" y="1801368"/>
            <a:ext cx="6933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design tools now generate lightweight, load-optimized geometries impossible to draft by hand — and simulate print outcomes before a single layer is laid.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980944"/>
            <a:ext cx="128016" cy="128016"/>
          </a:xfrm>
          <a:prstGeom prst="ellipse">
            <a:avLst/>
          </a:prstGeom>
          <a:solidFill>
            <a:srgbClr val="FF7A3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68680" y="28529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Voxel-level, print-aware control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2852928"/>
            <a:ext cx="6933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Toolpath optimization is converging with laser beam shaping to tune material properties point-by-point, moving parts from uncertain to predictable.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032504"/>
            <a:ext cx="128016" cy="128016"/>
          </a:xfrm>
          <a:prstGeom prst="ellipse">
            <a:avLst/>
          </a:prstGeom>
          <a:solidFill>
            <a:srgbClr val="FF7A3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68680" y="39044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&amp; end-to-end workflows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904488"/>
            <a:ext cx="6933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farms, automated post-processing and digital inventory turn 3D printing into a connected production line, not a standalone machine.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5084064"/>
            <a:ext cx="128016" cy="128016"/>
          </a:xfrm>
          <a:prstGeom prst="ellipse">
            <a:avLst/>
          </a:prstGeom>
          <a:solidFill>
            <a:srgbClr val="FF7A3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8680" y="49560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Cost-driven software gains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709160" y="4956048"/>
            <a:ext cx="6933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software control over metal production is projected to cut costs by up to 10x in some workflows — shifting the constraint from hardware to code.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SPOTLIGHT · 1 OF 3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 &amp; defense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728655" y="822960"/>
            <a:ext cx="914400" cy="91440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pl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671" y="950976"/>
            <a:ext cx="658368" cy="6583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78308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that proved metal AM could fly — literally.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48640" y="2697480"/>
            <a:ext cx="3484778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49808" y="2898648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Lightweighting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3474720"/>
            <a:ext cx="30824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Topology-optimized, printed brackets and housings cut part weight and part count without sacrificing strength.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53458" y="2697480"/>
            <a:ext cx="3484778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54626" y="2898648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consolidation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54626" y="3474720"/>
            <a:ext cx="30824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GE's fuel nozzle tip merged 20 brazed components into a single printed part, produced over 100,000 times.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8277" y="2697480"/>
            <a:ext cx="3484778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9445" y="2898648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resilience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8359445" y="3474720"/>
            <a:ext cx="30824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makers and defense programs increasingly print components on-demand, shortening fragile, long-lead supply chains.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SPOTLIGHT · 2 OF 3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&amp; bioprinting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728655" y="822960"/>
            <a:ext cx="914400" cy="91440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heartb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671" y="950976"/>
            <a:ext cx="658368" cy="6583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78308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fastest-growing application areas, driven by mass personalization.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48640" y="2697480"/>
            <a:ext cx="3484778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49808" y="2898648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Patient-specific devices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3474720"/>
            <a:ext cx="30824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guides, implants and prosthetics printed to match individual anatomy from CT/MRI scans.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53458" y="2697480"/>
            <a:ext cx="3484778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54626" y="2898648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Dental at scale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54626" y="3474720"/>
            <a:ext cx="30824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aligners and dental appliances are now a high-volume, always-on resin-printing production line.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8277" y="2697480"/>
            <a:ext cx="3484778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9445" y="2898648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Bioprinting research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8359445" y="3474720"/>
            <a:ext cx="30824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Cell-laden bioinks are advancing tissue engineering, with organ-scale printing still an active research frontier.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SPOTLIGHT · 3 OF 3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 &amp; construction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728655" y="822960"/>
            <a:ext cx="914400" cy="91440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671" y="950976"/>
            <a:ext cx="658368" cy="6583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78308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industries using AM for very different reasons — speed and scale.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48640" y="2697480"/>
            <a:ext cx="3484778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49808" y="2898648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&amp; prototyping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3474720"/>
            <a:ext cx="30824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Jigs, fixtures and low-volume tooling printed in days instead of weeks, especially for EV startups iterating fast.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53458" y="2697480"/>
            <a:ext cx="3484778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54626" y="2898648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End-use lightweight parts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54626" y="3474720"/>
            <a:ext cx="30824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brackets, ducts and low-volume trim components move from prototype to production runs.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8277" y="2697480"/>
            <a:ext cx="3484778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9445" y="2898648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3D-printed construction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8359445" y="3474720"/>
            <a:ext cx="30824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Large-format concrete printing is building homes and schools — including relief housing built for Ukraine in 2022.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7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PICTURE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that remain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209800"/>
            <a:ext cx="457200" cy="457200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7380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70432" y="1783080"/>
            <a:ext cx="474253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at volume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1170432" y="2333549"/>
            <a:ext cx="4742536" cy="76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still can't match injection molding or stamping for high-volume, low-complexity parts — it wins on complexity and customization, not throughput.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0" name="Image 2" descr="/home/claude/3dprint_deck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85876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70432" y="3368040"/>
            <a:ext cx="474253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part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170432" y="3918509"/>
            <a:ext cx="4742536" cy="76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and machine costs keep per-part economics uncompetitive outside low-volume or highly complex geometries.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5379720"/>
            <a:ext cx="457200" cy="457200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4" name="Image 3" descr="/home/claude/3dprint_deck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54437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70432" y="4953000"/>
            <a:ext cx="474253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Standardization &amp; certification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1170432" y="5503469"/>
            <a:ext cx="4742536" cy="76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printed parts — especially metal, for aerospace and medical use — remains slow, expensive, and process-specific.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278728" y="2209800"/>
            <a:ext cx="457200" cy="457200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8" name="Image 4" descr="/home/claude/3dprint_deck/icons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736" y="227380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900520" y="1783080"/>
            <a:ext cx="474253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control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6900520" y="2333549"/>
            <a:ext cx="4742536" cy="76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Part-to-part and machine-to-machine repeatability is improving but still trails traditional manufacturing's maturity.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6278728" y="3794760"/>
            <a:ext cx="457200" cy="457200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22" name="Image 5" descr="/home/claude/3dprint_deck/icons/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2736" y="3858768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900520" y="3368040"/>
            <a:ext cx="474253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&amp; skills gap</a:t>
            </a:r>
            <a:endParaRPr lang="en-US" sz="1350" dirty="0"/>
          </a:p>
        </p:txBody>
      </p:sp>
      <p:sp>
        <p:nvSpPr>
          <p:cNvPr id="24" name="Text 16"/>
          <p:cNvSpPr txBox="1"/>
          <p:nvPr/>
        </p:nvSpPr>
        <p:spPr>
          <a:xfrm>
            <a:off x="6900520" y="3918509"/>
            <a:ext cx="4742536" cy="76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Design-for-AM, post-processing and machine operation require expertise that hasn't scaled as fast as the hardware.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6278728" y="5379720"/>
            <a:ext cx="457200" cy="457200"/>
          </a:xfrm>
          <a:prstGeom prst="ellipse">
            <a:avLst/>
          </a:prstGeom>
          <a:solidFill>
            <a:srgbClr val="2E4057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26" name="Image 6" descr="/home/claude/3dprint_deck/icons/warn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736" y="5443728"/>
            <a:ext cx="329184" cy="32918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900520" y="4953000"/>
            <a:ext cx="474253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realism</a:t>
            </a:r>
            <a:endParaRPr lang="en-US" sz="1350" dirty="0"/>
          </a:p>
        </p:txBody>
      </p:sp>
      <p:sp>
        <p:nvSpPr>
          <p:cNvPr id="28" name="Text 19"/>
          <p:cNvSpPr txBox="1"/>
          <p:nvPr/>
        </p:nvSpPr>
        <p:spPr>
          <a:xfrm>
            <a:off x="6900520" y="5503469"/>
            <a:ext cx="4742536" cy="76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bullish forecasts describe AM as a fast-growing complement to manufacturing — not a wholesale replacement for it.</a:t>
            </a:r>
            <a:endParaRPr lang="en-US" sz="1050" dirty="0"/>
          </a:p>
        </p:txBody>
      </p:sp>
      <p:sp>
        <p:nvSpPr>
          <p:cNvPr id="29" name="Text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30" name="Text 2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colo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2026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next decade leads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728655" y="822960"/>
            <a:ext cx="914400" cy="91440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671" y="950976"/>
            <a:ext cx="658368" cy="6583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920240"/>
            <a:ext cx="9905695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77240" y="19933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Software-defined metal production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206240" y="1993392"/>
            <a:ext cx="6065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Voxel-level control and simulation-driven optimization move metal AM from craft to predictable engineering.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971800"/>
            <a:ext cx="9905695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77240" y="30449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metal fusion &amp; multi-material implants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206240" y="3044952"/>
            <a:ext cx="6065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Reviving older concepts on modern hardware to print multi-alloy medical devices, like combined titanium implants.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9905695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77240" y="40965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Continued double-digit growth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206240" y="4096512"/>
            <a:ext cx="6065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point to a ~21–22% CAGR through 2034, pushing the industry from ~$29B toward $135B+.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5074920"/>
            <a:ext cx="9905695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5400000">
              <a:srgbClr val="121721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51480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automation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206240" y="5148072"/>
            <a:ext cx="6065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360°, end-to-end solutions — print, post-process, inspect — become the competitive differentiator over raw hardware specs.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7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6" name="Image 1" descr="/home/claude/3dprint_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50" y="1997050"/>
            <a:ext cx="395021" cy="3950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8745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prototyping to production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394960" y="1874520"/>
            <a:ext cx="6248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shifted from a design-review tool to a genuine production process across aerospace, medical and dental applications.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0" name="Image 2" descr="/home/claude/3dprint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3048610"/>
            <a:ext cx="395021" cy="39502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926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single material to many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5394960" y="2926080"/>
            <a:ext cx="6248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polymers, composites, metals and bio-materials replaced basic plastics as the technology's default palette.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4" name="Image 3" descr="/home/claude/3dprint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50" y="4100170"/>
            <a:ext cx="395021" cy="39502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977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hardware-led to software-defined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394960" y="3977640"/>
            <a:ext cx="6248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 moved from machine specs to the software controlling design, simulation and process quality.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18" name="Image 4" descr="/home/claude/3dprint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50" y="5151730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5029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industrial-only to democratized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5394960" y="5029200"/>
            <a:ext cx="6248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expiry and Bambu Lab's disruption put professional-grade speed and quality into consumer hands.</a:t>
            </a:r>
            <a:endParaRPr lang="en-US" sz="11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PRINTING: A DECADE OF TRANSFORMATION</a:t>
            </a:r>
            <a:endParaRPr lang="en-US" sz="850" dirty="0"/>
          </a:p>
        </p:txBody>
      </p:sp>
      <p:sp>
        <p:nvSpPr>
          <p:cNvPr id="22" name="Text 1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7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3dprint_deck/logo_white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092037" y="6492240"/>
            <a:ext cx="499458" cy="2377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777240"/>
            <a:ext cx="777240" cy="777240"/>
          </a:xfrm>
          <a:prstGeom prst="ellipse">
            <a:avLst/>
          </a:prstGeom>
          <a:solidFill>
            <a:srgbClr val="FF7A30"/>
          </a:solidFill>
          <a:ln/>
          <a:effectLst>
            <a:outerShdw sx="100000" sy="100000" kx="0" ky="0" algn="bl" rotWithShape="0" blurRad="101600" dist="38100" dir="5400000">
              <a:srgbClr val="121721">
                <a:alpha val="25000"/>
              </a:srgbClr>
            </a:outerShdw>
          </a:effectLst>
        </p:spPr>
      </p:sp>
      <p:pic>
        <p:nvPicPr>
          <p:cNvPr id="4" name="Image 1" descr="/home/claude/3dprint_deck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4" y="886054"/>
            <a:ext cx="559613" cy="55961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828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697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15468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Wohlers Associates — Wohlers Report (2016, 2024 editions), via 3dprintingindustry.com and 3ders.org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Business Insights — 3D Printing Market Size, Share &amp; Industry Analysis, 2026–2034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MakeQuote — The State of 3D Printing in 2026: Industry Trends &amp; Market Data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3DPrint.com — 3D Printing Top Technologies &amp; Trends to Watch in 2026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MarketsandMarkets, Grand View Research — 3D Printing Market analyses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A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CompositesWorld, Desktop Metal, Carbon, HP — process and materials background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2026-08-27T14:06:35Z</dcterms:created>
  <dcterms:modified xsi:type="dcterms:W3CDTF">2026-08-27T14:06:35Z</dcterms:modified>
</cp:coreProperties>
</file>